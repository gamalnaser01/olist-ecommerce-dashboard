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66F017-B243-93A2-ACF5-FBE81A032B2E}" v="576" dt="2026-06-01T21:50:09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0E4F7-95E3-4699-A033-1D465D6C8FE6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0F6C7-8482-4167-A35C-FF83A47DDE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6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8620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📊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Financial 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Gamal Shaheen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Diploma: Data Analysis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analyze Olist E-Commerce data in order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E-commerce Dataeset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And Revenue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payments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 status performance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delivery delays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 for decision-making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24175"/>
            <a:ext cx="2743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Orders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order_purchase_timestamp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order_estimated_delivery_date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order_delivered_customer_date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92608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Payments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payment_sequential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65176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 Items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Steps: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Data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Analytical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Created Columns: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price + freight_value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75104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Delay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Delivered Date - Estimated Delivery 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88336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Order Status Group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Delivered / Pending / Canceled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01568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Month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21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Used for monthly analysis</a:t>
            </a:r>
            <a:endParaRPr lang="en-US" sz="11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44E8E889-F622-7D87-826D-B31503A16B74}"/>
              </a:ext>
            </a:extLst>
          </p:cNvPr>
          <p:cNvSpPr/>
          <p:nvPr/>
        </p:nvSpPr>
        <p:spPr>
          <a:xfrm>
            <a:off x="4754880" y="4199511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311A052-2D4B-8B52-DC81-797FE3E9BACC}"/>
              </a:ext>
            </a:extLst>
          </p:cNvPr>
          <p:cNvSpPr/>
          <p:nvPr/>
        </p:nvSpPr>
        <p:spPr>
          <a:xfrm>
            <a:off x="4803188" y="425601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4472C4"/>
                </a:solidFill>
                <a:ea typeface="Calibri"/>
                <a:cs typeface="Calibri"/>
              </a:rPr>
              <a:t>Net Profit</a:t>
            </a: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C119C7A-9C4E-6F61-0AE9-C284D53E89B3}"/>
              </a:ext>
            </a:extLst>
          </p:cNvPr>
          <p:cNvSpPr/>
          <p:nvPr/>
        </p:nvSpPr>
        <p:spPr>
          <a:xfrm>
            <a:off x="4803188" y="453033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</a:rPr>
              <a:t>price - freight  value</a:t>
            </a:r>
            <a:endParaRPr lang="en-US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37571C65-045F-4969-2060-ABC1382E805F}"/>
              </a:ext>
            </a:extLst>
          </p:cNvPr>
          <p:cNvSpPr/>
          <p:nvPr/>
        </p:nvSpPr>
        <p:spPr>
          <a:xfrm>
            <a:off x="215229" y="2840850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39354D4-ECB8-F721-4ED1-563A141AD2A0}"/>
              </a:ext>
            </a:extLst>
          </p:cNvPr>
          <p:cNvSpPr/>
          <p:nvPr/>
        </p:nvSpPr>
        <p:spPr>
          <a:xfrm>
            <a:off x="263537" y="289735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4472C4"/>
                </a:solidFill>
                <a:ea typeface="Calibri"/>
                <a:cs typeface="Calibri"/>
              </a:rPr>
              <a:t>Delay Status </a:t>
            </a: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97392B6-4320-C889-D67D-2FDABC1DB6A9}"/>
              </a:ext>
            </a:extLst>
          </p:cNvPr>
          <p:cNvSpPr/>
          <p:nvPr/>
        </p:nvSpPr>
        <p:spPr>
          <a:xfrm>
            <a:off x="263537" y="317167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</a:rPr>
              <a:t>Used for Late </a:t>
            </a:r>
            <a:r>
              <a:rPr lang="en-US" sz="1100" i="1">
                <a:solidFill>
                  <a:srgbClr val="64748B"/>
                </a:solidFill>
              </a:rPr>
              <a:t>Deliveries</a:t>
            </a:r>
            <a:endParaRPr lang="en-US" sz="1100" i="1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8552E32-A20E-DC88-0756-C2A9EBAC4416}"/>
              </a:ext>
            </a:extLst>
          </p:cNvPr>
          <p:cNvSpPr/>
          <p:nvPr/>
        </p:nvSpPr>
        <p:spPr>
          <a:xfrm>
            <a:off x="226012" y="3822105"/>
            <a:ext cx="4023360" cy="6400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26FBB4F-2AEE-6474-6E01-ED1208463EAA}"/>
              </a:ext>
            </a:extLst>
          </p:cNvPr>
          <p:cNvSpPr/>
          <p:nvPr/>
        </p:nvSpPr>
        <p:spPr>
          <a:xfrm>
            <a:off x="274320" y="38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4472C4"/>
                </a:solidFill>
                <a:ea typeface="Calibri"/>
                <a:cs typeface="Calibri"/>
              </a:rPr>
              <a:t>Payment </a:t>
            </a:r>
            <a:r>
              <a:rPr lang="en-US" sz="1300" b="1" dirty="0" err="1">
                <a:solidFill>
                  <a:srgbClr val="4472C4"/>
                </a:solidFill>
                <a:ea typeface="Calibri"/>
                <a:cs typeface="Calibri"/>
              </a:rPr>
              <a:t>Accuarcy</a:t>
            </a:r>
            <a:endParaRPr lang="en-US" sz="1300" b="1" dirty="0">
              <a:solidFill>
                <a:srgbClr val="4472C4"/>
              </a:solidFill>
              <a:ea typeface="Calibri"/>
              <a:cs typeface="Calibri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44BEF255-AF49-A902-5F78-142764ED7EA5}"/>
              </a:ext>
            </a:extLst>
          </p:cNvPr>
          <p:cNvSpPr/>
          <p:nvPr/>
        </p:nvSpPr>
        <p:spPr>
          <a:xfrm>
            <a:off x="274320" y="41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  <a:ea typeface="Calibri"/>
                <a:cs typeface="Calibri"/>
              </a:rPr>
              <a:t>Used for Payment Status</a:t>
            </a:r>
            <a:endParaRPr lang="en-US" sz="1100" dirty="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33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Importing datasets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57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6550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Cleaning the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457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76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Applying Group By on Payments table and order items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457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Merging datasets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457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493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Creating the Final Table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92400E"/>
                </a:solidFill>
              </a:rPr>
              <a:t>⚠️  Important: Group By was used to aggregate payments per order and prevent  duplication.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were created between tables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 was used to create DAX Measures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265176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585A3B-9A89-72F9-315F-8881111A4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06" y="1920240"/>
            <a:ext cx="8412479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1367" y="809158"/>
            <a:ext cx="4082451" cy="967884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9801" y="809158"/>
            <a:ext cx="53225" cy="9678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4612" y="90059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4612" y="128464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Revenue generated from delivered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1367" y="1883722"/>
            <a:ext cx="4082451" cy="978667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9801" y="1883721"/>
            <a:ext cx="45719" cy="978667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5395" y="201642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Total Payments Received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5395" y="2400473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Total received payments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1367" y="2969068"/>
            <a:ext cx="4082451" cy="967884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9018" y="2969068"/>
            <a:ext cx="53225" cy="9678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6178" y="309990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Expected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178" y="348395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Expected revenue from approved/non-canceled 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6483" y="809158"/>
            <a:ext cx="4114800" cy="1000233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0308" y="809158"/>
            <a:ext cx="64008" cy="1000233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9034" y="94373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Revenue Reconciliation 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9034" y="132777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Comparison between actual and expected revenue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36483" y="1924984"/>
            <a:ext cx="4114800" cy="1000233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31091" y="1935768"/>
            <a:ext cx="64008" cy="1000233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8251" y="2027208"/>
            <a:ext cx="3840480" cy="333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Average Delay in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8251" y="2411256"/>
            <a:ext cx="3840480" cy="45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Average delivery delay duration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36483" y="3030028"/>
            <a:ext cx="4114800" cy="957101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41874" y="3030028"/>
            <a:ext cx="64008" cy="95710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9034" y="3121468"/>
            <a:ext cx="3840480" cy="32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Gross Margin 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79034" y="3505516"/>
            <a:ext cx="3840480" cy="438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Profit margin percentage</a:t>
            </a:r>
            <a:endParaRPr lang="en-US" sz="12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C79EF60-C542-BE70-2A1A-5148B0B2B2DB}"/>
              </a:ext>
            </a:extLst>
          </p:cNvPr>
          <p:cNvSpPr/>
          <p:nvPr/>
        </p:nvSpPr>
        <p:spPr>
          <a:xfrm>
            <a:off x="371367" y="4043632"/>
            <a:ext cx="4082451" cy="967884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38BCC3A-5A2F-C837-6025-2CF5E6E7B736}"/>
              </a:ext>
            </a:extLst>
          </p:cNvPr>
          <p:cNvSpPr/>
          <p:nvPr/>
        </p:nvSpPr>
        <p:spPr>
          <a:xfrm>
            <a:off x="339018" y="4043632"/>
            <a:ext cx="64008" cy="9678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2171114-03AF-08C4-3398-61074CD21973}"/>
              </a:ext>
            </a:extLst>
          </p:cNvPr>
          <p:cNvSpPr/>
          <p:nvPr/>
        </p:nvSpPr>
        <p:spPr>
          <a:xfrm>
            <a:off x="476178" y="4135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4472C4"/>
                </a:solidFill>
              </a:rPr>
              <a:t>Average Order Value</a:t>
            </a:r>
            <a:endParaRPr lang="en-US" sz="13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EA97A873-DB49-007A-0F12-7D1501AE9E40}"/>
              </a:ext>
            </a:extLst>
          </p:cNvPr>
          <p:cNvSpPr/>
          <p:nvPr/>
        </p:nvSpPr>
        <p:spPr>
          <a:xfrm>
            <a:off x="476178" y="451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Average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27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527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Total Payments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1527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Expected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1527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Revenue Reconciliation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Average Order 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23317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2316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6888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Average Delay in 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331720"/>
            <a:ext cx="1920240" cy="10972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6344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Gross Margin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8686800" cy="13716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56616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D9417A3-094B-F850-4CF9-906E4C5B2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20440"/>
            <a:ext cx="8686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Order statuses were grouped into: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4688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Pending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4688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Canceled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Objective: Understand the percentage distribution of completed, pending, and canceled orders.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F6C69C-9BBC-463B-1B59-93CB46B6A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0" y="2057400"/>
            <a:ext cx="8230137" cy="2355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Count of Late Deliveries by Month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BA570-43ED-A2CC-2AD7-7ACF0C833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18" y="1551857"/>
            <a:ext cx="7498150" cy="25681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Monthly revenue trends were used to predict future revenue growth.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Objective: Forecast future sales performance.</a:t>
            </a:r>
            <a:endParaRPr lang="en-US" sz="1100" dirty="0"/>
          </a:p>
        </p:txBody>
      </p:sp>
      <p:pic>
        <p:nvPicPr>
          <p:cNvPr id="7" name="Picture 6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DB3E151C-4A8C-FD03-B5FA-B5BA716B9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46" y="1600200"/>
            <a:ext cx="8540330" cy="2633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Filters Used: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6858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E2761"/>
                </a:solidFill>
              </a:rPr>
              <a:t>📋  Order Status Group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6858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💳  Payment Type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023360" cy="6858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📅  Date Range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6F36CE90-8D43-8501-A954-B8108FF6BE04}"/>
              </a:ext>
            </a:extLst>
          </p:cNvPr>
          <p:cNvSpPr/>
          <p:nvPr/>
        </p:nvSpPr>
        <p:spPr>
          <a:xfrm>
            <a:off x="365760" y="3869378"/>
            <a:ext cx="4023360" cy="6858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A548D3D-CE66-FA88-E3EB-3E80E0770277}"/>
              </a:ext>
            </a:extLst>
          </p:cNvPr>
          <p:cNvSpPr/>
          <p:nvPr/>
        </p:nvSpPr>
        <p:spPr>
          <a:xfrm>
            <a:off x="457200" y="391509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E2761"/>
                </a:solidFill>
              </a:rPr>
              <a:t>        Payment Status</a:t>
            </a:r>
            <a:endParaRPr lang="en-US" sz="1500"/>
          </a:p>
        </p:txBody>
      </p:sp>
      <p:pic>
        <p:nvPicPr>
          <p:cNvPr id="16" name="Graphic 15" descr="Upward trend with solid fill">
            <a:extLst>
              <a:ext uri="{FF2B5EF4-FFF2-40B4-BE49-F238E27FC236}">
                <a16:creationId xmlns:a16="http://schemas.microsoft.com/office/drawing/2014/main" id="{803EC0CC-6998-59CD-61CD-2A181146C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573" y="3872182"/>
            <a:ext cx="332118" cy="515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46304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Most revenue came from delivered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114800" cy="146304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Some months showed high delivery delays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4114800" cy="146304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Actual revenue was close to expected revenue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4114800" cy="146304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</a:rPr>
              <a:t>Credit card payments were the most used payment method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9622" y="2235104"/>
            <a:ext cx="4114800" cy="1554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9622" y="2326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F4444"/>
                </a:solidFill>
              </a:rPr>
              <a:t>Challenge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062" y="273802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1D1D"/>
                </a:solidFill>
              </a:rPr>
              <a:t>Duplicate payment records per 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15862" y="292133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472C4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90182" y="2245887"/>
            <a:ext cx="411480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182" y="233732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2C55E"/>
                </a:solidFill>
              </a:rPr>
              <a:t>Solution 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781622" y="2748807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532D"/>
                </a:solidFill>
              </a:rPr>
              <a:t>Using Group By to aggregate payments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88620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31663-F0D0-F23C-A755-C28BA228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960120"/>
            <a:ext cx="8412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</a:rPr>
              <a:t>This project helped in: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658368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📊  Analyzing sales performance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658368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👥  Understanding customer order behavior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658368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💹  Evaluating financial performance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8412480" cy="658368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</a:rPr>
              <a:t>🖥️  Supporting decision-making through interactive dashboards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0" y="7315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Gamal Shaheen  |  Data Analysis Diploma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482</Words>
  <Application>Microsoft Office PowerPoint</Application>
  <PresentationFormat>On-screen Show (16:9)</PresentationFormat>
  <Paragraphs>153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Dashboard</dc:title>
  <dc:subject>PptxGenJS Presentation</dc:subject>
  <dc:creator>PptxGenJS</dc:creator>
  <cp:lastModifiedBy>جمال ناصر عبدالنبى ابراهيم شاهين</cp:lastModifiedBy>
  <cp:revision>218</cp:revision>
  <dcterms:created xsi:type="dcterms:W3CDTF">2026-06-01T20:24:56Z</dcterms:created>
  <dcterms:modified xsi:type="dcterms:W3CDTF">2026-06-08T08:40:22Z</dcterms:modified>
</cp:coreProperties>
</file>